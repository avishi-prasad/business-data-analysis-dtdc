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3E084B-3DB4-4641-B06B-8C970211A90F}" v="2" dt="2025-07-31T12:19:50.2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01" autoAdjust="0"/>
  </p:normalViewPr>
  <p:slideViewPr>
    <p:cSldViewPr snapToGrid="0">
      <p:cViewPr varScale="1">
        <p:scale>
          <a:sx n="77" d="100"/>
          <a:sy n="77" d="100"/>
        </p:scale>
        <p:origin x="232" y="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vishi Prasad" userId="81b222eeb233b819" providerId="LiveId" clId="{693E084B-3DB4-4641-B06B-8C970211A90F}"/>
    <pc:docChg chg="undo custSel modSld">
      <pc:chgData name="Avishi Prasad" userId="81b222eeb233b819" providerId="LiveId" clId="{693E084B-3DB4-4641-B06B-8C970211A90F}" dt="2025-08-23T05:02:22.324" v="264" actId="20577"/>
      <pc:docMkLst>
        <pc:docMk/>
      </pc:docMkLst>
      <pc:sldChg chg="modSp mod">
        <pc:chgData name="Avishi Prasad" userId="81b222eeb233b819" providerId="LiveId" clId="{693E084B-3DB4-4641-B06B-8C970211A90F}" dt="2025-08-18T07:29:14.716" v="57" actId="20577"/>
        <pc:sldMkLst>
          <pc:docMk/>
          <pc:sldMk cId="2550504361" sldId="257"/>
        </pc:sldMkLst>
        <pc:spChg chg="mod">
          <ac:chgData name="Avishi Prasad" userId="81b222eeb233b819" providerId="LiveId" clId="{693E084B-3DB4-4641-B06B-8C970211A90F}" dt="2025-08-18T07:29:14.716" v="57" actId="20577"/>
          <ac:spMkLst>
            <pc:docMk/>
            <pc:sldMk cId="2550504361" sldId="257"/>
            <ac:spMk id="10" creationId="{B0BE64C3-AEA8-6C0B-4E1C-FC16599B2D0C}"/>
          </ac:spMkLst>
        </pc:spChg>
      </pc:sldChg>
      <pc:sldChg chg="modSp mod">
        <pc:chgData name="Avishi Prasad" userId="81b222eeb233b819" providerId="LiveId" clId="{693E084B-3DB4-4641-B06B-8C970211A90F}" dt="2025-08-23T04:48:42.507" v="263" actId="20577"/>
        <pc:sldMkLst>
          <pc:docMk/>
          <pc:sldMk cId="1440112481" sldId="261"/>
        </pc:sldMkLst>
        <pc:spChg chg="mod">
          <ac:chgData name="Avishi Prasad" userId="81b222eeb233b819" providerId="LiveId" clId="{693E084B-3DB4-4641-B06B-8C970211A90F}" dt="2025-08-23T04:48:42.507" v="263" actId="20577"/>
          <ac:spMkLst>
            <pc:docMk/>
            <pc:sldMk cId="1440112481" sldId="261"/>
            <ac:spMk id="3" creationId="{006E1A3A-DE1D-8784-AA7A-35DF77B9B1C0}"/>
          </ac:spMkLst>
        </pc:spChg>
      </pc:sldChg>
      <pc:sldChg chg="modSp mod modNotesTx">
        <pc:chgData name="Avishi Prasad" userId="81b222eeb233b819" providerId="LiveId" clId="{693E084B-3DB4-4641-B06B-8C970211A90F}" dt="2025-08-18T07:26:05.594" v="54" actId="1076"/>
        <pc:sldMkLst>
          <pc:docMk/>
          <pc:sldMk cId="569736208" sldId="262"/>
        </pc:sldMkLst>
        <pc:picChg chg="mod">
          <ac:chgData name="Avishi Prasad" userId="81b222eeb233b819" providerId="LiveId" clId="{693E084B-3DB4-4641-B06B-8C970211A90F}" dt="2025-08-18T07:26:05.594" v="54" actId="1076"/>
          <ac:picMkLst>
            <pc:docMk/>
            <pc:sldMk cId="569736208" sldId="262"/>
            <ac:picMk id="6" creationId="{8BBDB78A-A4E4-7A73-5B87-A535B96D5AEF}"/>
          </ac:picMkLst>
        </pc:picChg>
        <pc:picChg chg="mod">
          <ac:chgData name="Avishi Prasad" userId="81b222eeb233b819" providerId="LiveId" clId="{693E084B-3DB4-4641-B06B-8C970211A90F}" dt="2025-08-18T07:26:02.383" v="53" actId="1076"/>
          <ac:picMkLst>
            <pc:docMk/>
            <pc:sldMk cId="569736208" sldId="262"/>
            <ac:picMk id="8" creationId="{A0BCF27F-A438-0030-7C6E-689DF36A45AC}"/>
          </ac:picMkLst>
        </pc:picChg>
        <pc:picChg chg="mod">
          <ac:chgData name="Avishi Prasad" userId="81b222eeb233b819" providerId="LiveId" clId="{693E084B-3DB4-4641-B06B-8C970211A90F}" dt="2025-08-18T07:26:00.128" v="52" actId="1076"/>
          <ac:picMkLst>
            <pc:docMk/>
            <pc:sldMk cId="569736208" sldId="262"/>
            <ac:picMk id="10" creationId="{826EAC87-87E8-0A95-0BC7-7DADEC1BCEB8}"/>
          </ac:picMkLst>
        </pc:picChg>
      </pc:sldChg>
      <pc:sldChg chg="modSp mod">
        <pc:chgData name="Avishi Prasad" userId="81b222eeb233b819" providerId="LiveId" clId="{693E084B-3DB4-4641-B06B-8C970211A90F}" dt="2025-08-18T08:16:56.633" v="58" actId="20577"/>
        <pc:sldMkLst>
          <pc:docMk/>
          <pc:sldMk cId="3249246584" sldId="263"/>
        </pc:sldMkLst>
        <pc:spChg chg="mod">
          <ac:chgData name="Avishi Prasad" userId="81b222eeb233b819" providerId="LiveId" clId="{693E084B-3DB4-4641-B06B-8C970211A90F}" dt="2025-08-18T08:16:56.633" v="58" actId="20577"/>
          <ac:spMkLst>
            <pc:docMk/>
            <pc:sldMk cId="3249246584" sldId="263"/>
            <ac:spMk id="3" creationId="{495C5362-26D8-C9B2-40C1-F584CBA953CC}"/>
          </ac:spMkLst>
        </pc:spChg>
      </pc:sldChg>
      <pc:sldChg chg="addSp delSp modSp mod">
        <pc:chgData name="Avishi Prasad" userId="81b222eeb233b819" providerId="LiveId" clId="{693E084B-3DB4-4641-B06B-8C970211A90F}" dt="2025-08-18T07:24:56.535" v="50" actId="1076"/>
        <pc:sldMkLst>
          <pc:docMk/>
          <pc:sldMk cId="223708010" sldId="264"/>
        </pc:sldMkLst>
        <pc:spChg chg="mod">
          <ac:chgData name="Avishi Prasad" userId="81b222eeb233b819" providerId="LiveId" clId="{693E084B-3DB4-4641-B06B-8C970211A90F}" dt="2025-08-18T07:24:45.141" v="46" actId="20577"/>
          <ac:spMkLst>
            <pc:docMk/>
            <pc:sldMk cId="223708010" sldId="264"/>
            <ac:spMk id="3" creationId="{E7D388D7-82F1-9EE5-1523-DA6403C0C99A}"/>
          </ac:spMkLst>
        </pc:spChg>
        <pc:picChg chg="mod">
          <ac:chgData name="Avishi Prasad" userId="81b222eeb233b819" providerId="LiveId" clId="{693E084B-3DB4-4641-B06B-8C970211A90F}" dt="2025-08-18T07:24:49.616" v="47" actId="1076"/>
          <ac:picMkLst>
            <pc:docMk/>
            <pc:sldMk cId="223708010" sldId="264"/>
            <ac:picMk id="6" creationId="{55B2C0D2-0B69-2053-B0D1-ABA31C3EE834}"/>
          </ac:picMkLst>
        </pc:picChg>
        <pc:picChg chg="add mod">
          <ac:chgData name="Avishi Prasad" userId="81b222eeb233b819" providerId="LiveId" clId="{693E084B-3DB4-4641-B06B-8C970211A90F}" dt="2025-08-18T07:24:56.535" v="50" actId="1076"/>
          <ac:picMkLst>
            <pc:docMk/>
            <pc:sldMk cId="223708010" sldId="264"/>
            <ac:picMk id="7" creationId="{0F93F3BD-9878-CF55-D711-75B5E9A84CC3}"/>
          </ac:picMkLst>
        </pc:picChg>
      </pc:sldChg>
      <pc:sldChg chg="modSp mod">
        <pc:chgData name="Avishi Prasad" userId="81b222eeb233b819" providerId="LiveId" clId="{693E084B-3DB4-4641-B06B-8C970211A90F}" dt="2025-08-23T05:02:22.324" v="264" actId="20577"/>
        <pc:sldMkLst>
          <pc:docMk/>
          <pc:sldMk cId="3864741573" sldId="265"/>
        </pc:sldMkLst>
        <pc:spChg chg="mod">
          <ac:chgData name="Avishi Prasad" userId="81b222eeb233b819" providerId="LiveId" clId="{693E084B-3DB4-4641-B06B-8C970211A90F}" dt="2025-08-23T05:02:22.324" v="264" actId="20577"/>
          <ac:spMkLst>
            <pc:docMk/>
            <pc:sldMk cId="3864741573" sldId="265"/>
            <ac:spMk id="5" creationId="{3B32EA30-49ED-B75E-B7CA-354DC1C95F23}"/>
          </ac:spMkLst>
        </pc:spChg>
        <pc:spChg chg="mod">
          <ac:chgData name="Avishi Prasad" userId="81b222eeb233b819" providerId="LiveId" clId="{693E084B-3DB4-4641-B06B-8C970211A90F}" dt="2025-07-31T12:25:02.953" v="39" actId="20577"/>
          <ac:spMkLst>
            <pc:docMk/>
            <pc:sldMk cId="3864741573" sldId="265"/>
            <ac:spMk id="6" creationId="{A11E6913-65C9-924E-F003-068ED14F8EAB}"/>
          </ac:spMkLst>
        </pc:spChg>
      </pc:sldChg>
    </pc:docChg>
  </pc:docChgLst>
  <pc:docChgLst>
    <pc:chgData name="Avishi Prasad" userId="81b222eeb233b819" providerId="LiveId" clId="{CBFE286B-6E4B-47A9-9CFA-56177E5AE603}"/>
    <pc:docChg chg="modSld">
      <pc:chgData name="Avishi Prasad" userId="81b222eeb233b819" providerId="LiveId" clId="{CBFE286B-6E4B-47A9-9CFA-56177E5AE603}" dt="2025-06-21T05:27:58.569" v="24"/>
      <pc:docMkLst>
        <pc:docMk/>
      </pc:docMkLst>
      <pc:sldChg chg="modSp mod modTransition">
        <pc:chgData name="Avishi Prasad" userId="81b222eeb233b819" providerId="LiveId" clId="{CBFE286B-6E4B-47A9-9CFA-56177E5AE603}" dt="2025-06-21T05:27:11.978" v="15"/>
        <pc:sldMkLst>
          <pc:docMk/>
          <pc:sldMk cId="2893988855" sldId="256"/>
        </pc:sldMkLst>
      </pc:sldChg>
      <pc:sldChg chg="modTransition">
        <pc:chgData name="Avishi Prasad" userId="81b222eeb233b819" providerId="LiveId" clId="{CBFE286B-6E4B-47A9-9CFA-56177E5AE603}" dt="2025-06-21T05:27:17.076" v="16"/>
        <pc:sldMkLst>
          <pc:docMk/>
          <pc:sldMk cId="2550504361" sldId="257"/>
        </pc:sldMkLst>
      </pc:sldChg>
      <pc:sldChg chg="modTransition">
        <pc:chgData name="Avishi Prasad" userId="81b222eeb233b819" providerId="LiveId" clId="{CBFE286B-6E4B-47A9-9CFA-56177E5AE603}" dt="2025-06-21T05:27:31.544" v="17"/>
        <pc:sldMkLst>
          <pc:docMk/>
          <pc:sldMk cId="1632546618" sldId="258"/>
        </pc:sldMkLst>
      </pc:sldChg>
      <pc:sldChg chg="modTransition">
        <pc:chgData name="Avishi Prasad" userId="81b222eeb233b819" providerId="LiveId" clId="{CBFE286B-6E4B-47A9-9CFA-56177E5AE603}" dt="2025-06-21T05:27:35.952" v="18"/>
        <pc:sldMkLst>
          <pc:docMk/>
          <pc:sldMk cId="2507348346" sldId="259"/>
        </pc:sldMkLst>
      </pc:sldChg>
      <pc:sldChg chg="modTransition">
        <pc:chgData name="Avishi Prasad" userId="81b222eeb233b819" providerId="LiveId" clId="{CBFE286B-6E4B-47A9-9CFA-56177E5AE603}" dt="2025-06-21T05:27:40.032" v="19"/>
        <pc:sldMkLst>
          <pc:docMk/>
          <pc:sldMk cId="442128967" sldId="260"/>
        </pc:sldMkLst>
      </pc:sldChg>
      <pc:sldChg chg="modTransition">
        <pc:chgData name="Avishi Prasad" userId="81b222eeb233b819" providerId="LiveId" clId="{CBFE286B-6E4B-47A9-9CFA-56177E5AE603}" dt="2025-06-21T05:27:43.548" v="20"/>
        <pc:sldMkLst>
          <pc:docMk/>
          <pc:sldMk cId="1440112481" sldId="261"/>
        </pc:sldMkLst>
      </pc:sldChg>
      <pc:sldChg chg="modTransition">
        <pc:chgData name="Avishi Prasad" userId="81b222eeb233b819" providerId="LiveId" clId="{CBFE286B-6E4B-47A9-9CFA-56177E5AE603}" dt="2025-06-21T05:27:48.773" v="21"/>
        <pc:sldMkLst>
          <pc:docMk/>
          <pc:sldMk cId="569736208" sldId="262"/>
        </pc:sldMkLst>
      </pc:sldChg>
      <pc:sldChg chg="addSp modSp mod modTransition">
        <pc:chgData name="Avishi Prasad" userId="81b222eeb233b819" providerId="LiveId" clId="{CBFE286B-6E4B-47A9-9CFA-56177E5AE603}" dt="2025-06-21T05:27:51.604" v="22"/>
        <pc:sldMkLst>
          <pc:docMk/>
          <pc:sldMk cId="3249246584" sldId="263"/>
        </pc:sldMkLst>
      </pc:sldChg>
      <pc:sldChg chg="modTransition">
        <pc:chgData name="Avishi Prasad" userId="81b222eeb233b819" providerId="LiveId" clId="{CBFE286B-6E4B-47A9-9CFA-56177E5AE603}" dt="2025-06-21T05:27:55.178" v="23"/>
        <pc:sldMkLst>
          <pc:docMk/>
          <pc:sldMk cId="223708010" sldId="264"/>
        </pc:sldMkLst>
      </pc:sldChg>
      <pc:sldChg chg="modTransition">
        <pc:chgData name="Avishi Prasad" userId="81b222eeb233b819" providerId="LiveId" clId="{CBFE286B-6E4B-47A9-9CFA-56177E5AE603}" dt="2025-06-21T05:27:58.569" v="24"/>
        <pc:sldMkLst>
          <pc:docMk/>
          <pc:sldMk cId="3864741573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32848B-7DD6-408A-911F-E5C6EE3DBCEC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2CABD7-606E-4F09-917B-8F3AD89E82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3428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CABD7-606E-4F09-917B-8F3AD89E824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7399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CABD7-606E-4F09-917B-8F3AD89E824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76683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2CABD7-606E-4F09-917B-8F3AD89E824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60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07F1E-B16B-47FE-A333-03B2CCD51C8E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8B53-F7ED-444D-ADD5-DE561FFB00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491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07F1E-B16B-47FE-A333-03B2CCD51C8E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8B53-F7ED-444D-ADD5-DE561FFB00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505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07F1E-B16B-47FE-A333-03B2CCD51C8E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8B53-F7ED-444D-ADD5-DE561FFB00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2027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07F1E-B16B-47FE-A333-03B2CCD51C8E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8B53-F7ED-444D-ADD5-DE561FFB00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216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07F1E-B16B-47FE-A333-03B2CCD51C8E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8B53-F7ED-444D-ADD5-DE561FFB00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52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07F1E-B16B-47FE-A333-03B2CCD51C8E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8B53-F7ED-444D-ADD5-DE561FFB00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100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07F1E-B16B-47FE-A333-03B2CCD51C8E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8B53-F7ED-444D-ADD5-DE561FFB00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7034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07F1E-B16B-47FE-A333-03B2CCD51C8E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8B53-F7ED-444D-ADD5-DE561FFB00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846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07F1E-B16B-47FE-A333-03B2CCD51C8E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8B53-F7ED-444D-ADD5-DE561FFB00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7653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07F1E-B16B-47FE-A333-03B2CCD51C8E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8B53-F7ED-444D-ADD5-DE561FFB00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5210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07F1E-B16B-47FE-A333-03B2CCD51C8E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8B53-F7ED-444D-ADD5-DE561FFB00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7997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07F1E-B16B-47FE-A333-03B2CCD51C8E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8B53-F7ED-444D-ADD5-DE561FFB00CC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209253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07F1E-B16B-47FE-A333-03B2CCD51C8E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8B53-F7ED-444D-ADD5-DE561FFB00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3871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07F1E-B16B-47FE-A333-03B2CCD51C8E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8B53-F7ED-444D-ADD5-DE561FFB00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8809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07F1E-B16B-47FE-A333-03B2CCD51C8E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8B53-F7ED-444D-ADD5-DE561FFB00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57321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07F1E-B16B-47FE-A333-03B2CCD51C8E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8B53-F7ED-444D-ADD5-DE561FFB00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05161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07F1E-B16B-47FE-A333-03B2CCD51C8E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28B53-F7ED-444D-ADD5-DE561FFB00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0007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CB07F1E-B16B-47FE-A333-03B2CCD51C8E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928B53-F7ED-444D-ADD5-DE561FFB00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3770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svg"/><Relationship Id="rId3" Type="http://schemas.openxmlformats.org/officeDocument/2006/relationships/image" Target="../media/image6.png"/><Relationship Id="rId7" Type="http://schemas.openxmlformats.org/officeDocument/2006/relationships/image" Target="../media/image19.svg"/><Relationship Id="rId12" Type="http://schemas.openxmlformats.org/officeDocument/2006/relationships/image" Target="../media/image24.png"/><Relationship Id="rId17" Type="http://schemas.openxmlformats.org/officeDocument/2006/relationships/image" Target="../media/image29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7.svg"/><Relationship Id="rId15" Type="http://schemas.openxmlformats.org/officeDocument/2006/relationships/image" Target="../media/image27.sv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svg"/><Relationship Id="rId1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42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sv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svg"/><Relationship Id="rId4" Type="http://schemas.openxmlformats.org/officeDocument/2006/relationships/image" Target="../media/image33.svg"/><Relationship Id="rId9" Type="http://schemas.openxmlformats.org/officeDocument/2006/relationships/image" Target="../media/image38.png"/><Relationship Id="rId14" Type="http://schemas.openxmlformats.org/officeDocument/2006/relationships/image" Target="../media/image4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303CF-CA04-9DF0-C1C6-CECA6928C3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7123" y="1070043"/>
            <a:ext cx="10311320" cy="1913790"/>
          </a:xfrm>
        </p:spPr>
        <p:txBody>
          <a:bodyPr>
            <a:normAutofit/>
          </a:bodyPr>
          <a:lstStyle/>
          <a:p>
            <a:r>
              <a:rPr lang="en-US" sz="4800" dirty="0"/>
              <a:t>Enhancing Operational Efficiency and Revenue Analysis</a:t>
            </a: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71E896-AD4C-9AC9-B4C4-F75FEE40B2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3099336"/>
            <a:ext cx="9431383" cy="673768"/>
          </a:xfrm>
        </p:spPr>
        <p:txBody>
          <a:bodyPr/>
          <a:lstStyle/>
          <a:p>
            <a:r>
              <a:rPr lang="en-US" b="1" dirty="0"/>
              <a:t>A Data-Driven Study for DTDC Courier Franchise Services</a:t>
            </a: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A49287-C465-7F48-0FEC-BF18989D7D87}"/>
              </a:ext>
            </a:extLst>
          </p:cNvPr>
          <p:cNvSpPr txBox="1"/>
          <p:nvPr/>
        </p:nvSpPr>
        <p:spPr>
          <a:xfrm>
            <a:off x="8200724" y="4494998"/>
            <a:ext cx="35035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Name: Avishi Prasad</a:t>
            </a:r>
          </a:p>
          <a:p>
            <a:r>
              <a:rPr lang="en-IN" dirty="0"/>
              <a:t>Roll No.: 23f2003893</a:t>
            </a:r>
          </a:p>
          <a:p>
            <a:r>
              <a:rPr lang="en-IN" dirty="0"/>
              <a:t>IITM BDM Capstone Project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E731B0-EF90-5CD8-D773-CF5A890D59C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7934" y="4572459"/>
            <a:ext cx="912790" cy="76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88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F6171-D22D-6EF5-083D-B7EB7B59F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88941"/>
          </a:xfrm>
        </p:spPr>
        <p:txBody>
          <a:bodyPr/>
          <a:lstStyle/>
          <a:p>
            <a:r>
              <a:rPr lang="en-IN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D70C8-FFA7-41C5-B230-364AE53D9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414914"/>
            <a:ext cx="9318333" cy="4833486"/>
          </a:xfrm>
        </p:spPr>
        <p:txBody>
          <a:bodyPr/>
          <a:lstStyle/>
          <a:p>
            <a:r>
              <a:rPr lang="en-US" dirty="0"/>
              <a:t>DTDC Franchise in Kanpur (since 1997) facing 3 issues: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tabLst/>
              <a:defRPr/>
            </a:pPr>
            <a:r>
              <a:rPr lang="en-US" dirty="0"/>
              <a:t>Data collected for October 2024, analyzed using Excel, Power BI, and Python (OpenRouteService)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None/>
              <a:tabLst/>
              <a:defRPr/>
            </a:pPr>
            <a:endParaRPr lang="en-US" dirty="0"/>
          </a:p>
          <a:p>
            <a:r>
              <a:rPr lang="en-US" dirty="0"/>
              <a:t>Goal: Identify inefficiencies and provide actionable insights</a:t>
            </a:r>
            <a:endParaRPr lang="en-IN" dirty="0"/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189CC96-4415-5E95-86FB-333DE5E15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3CEF233-CCDD-CF85-C0A8-0479E36BD3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3740" y="6082116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BE64C3-AEA8-6C0B-4E1C-FC16599B2D0C}"/>
              </a:ext>
            </a:extLst>
          </p:cNvPr>
          <p:cNvSpPr txBox="1"/>
          <p:nvPr/>
        </p:nvSpPr>
        <p:spPr>
          <a:xfrm>
            <a:off x="1155031" y="1742174"/>
            <a:ext cx="506288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+mj-lt"/>
              </a:rPr>
              <a:t>Lack of visibility in region-wise revenue</a:t>
            </a:r>
          </a:p>
          <a:p>
            <a:pPr marL="68580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+mj-lt"/>
              </a:rPr>
              <a:t>High parcel returns </a:t>
            </a:r>
          </a:p>
          <a:p>
            <a:pPr marL="68580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dirty="0">
                <a:latin typeface="+mj-lt"/>
              </a:rPr>
              <a:t>Frequent delivery delays</a:t>
            </a:r>
          </a:p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83F2EE8-C9F1-E15D-1905-CD365C5953A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6333" y="5815579"/>
            <a:ext cx="1028294" cy="86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5043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E52CB-9CBA-93A6-1E59-CF1C26680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29573"/>
          </a:xfrm>
        </p:spPr>
        <p:txBody>
          <a:bodyPr/>
          <a:lstStyle/>
          <a:p>
            <a:r>
              <a:rPr lang="en-IN" dirty="0"/>
              <a:t>Problem Statement and Objectives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DBC697B-2C44-5C41-BDA7-90ED2C6A16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4440997"/>
              </p:ext>
            </p:extLst>
          </p:nvPr>
        </p:nvGraphicFramePr>
        <p:xfrm>
          <a:off x="917575" y="1684420"/>
          <a:ext cx="8947150" cy="3224464"/>
        </p:xfrm>
        <a:graphic>
          <a:graphicData uri="http://schemas.openxmlformats.org/drawingml/2006/table">
            <a:tbl>
              <a:tblPr/>
              <a:tblGrid>
                <a:gridCol w="4473575">
                  <a:extLst>
                    <a:ext uri="{9D8B030D-6E8A-4147-A177-3AD203B41FA5}">
                      <a16:colId xmlns:a16="http://schemas.microsoft.com/office/drawing/2014/main" val="1278291731"/>
                    </a:ext>
                  </a:extLst>
                </a:gridCol>
                <a:gridCol w="4473575">
                  <a:extLst>
                    <a:ext uri="{9D8B030D-6E8A-4147-A177-3AD203B41FA5}">
                      <a16:colId xmlns:a16="http://schemas.microsoft.com/office/drawing/2014/main" val="87885535"/>
                    </a:ext>
                  </a:extLst>
                </a:gridCol>
              </a:tblGrid>
              <a:tr h="806116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Problem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Objective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59944"/>
                  </a:ext>
                </a:extLst>
              </a:tr>
              <a:tr h="806116">
                <a:tc>
                  <a:txBody>
                    <a:bodyPr/>
                    <a:lstStyle/>
                    <a:p>
                      <a:r>
                        <a:rPr lang="en-IN" dirty="0"/>
                        <a:t>Revenue Trends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Analyze revenue by region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424207"/>
                  </a:ext>
                </a:extLst>
              </a:tr>
              <a:tr h="806116">
                <a:tc>
                  <a:txBody>
                    <a:bodyPr/>
                    <a:lstStyle/>
                    <a:p>
                      <a:r>
                        <a:rPr lang="en-IN" dirty="0"/>
                        <a:t>Parcel Returns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Identify return rates &amp; causes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6327270"/>
                  </a:ext>
                </a:extLst>
              </a:tr>
              <a:tr h="806116">
                <a:tc>
                  <a:txBody>
                    <a:bodyPr/>
                    <a:lstStyle/>
                    <a:p>
                      <a:r>
                        <a:rPr lang="en-IN" dirty="0"/>
                        <a:t>Delivery Delays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Detect delay-prone routes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458113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0FC04A7D-14CE-D900-D596-F1DBB0CC241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6333" y="5815579"/>
            <a:ext cx="1028294" cy="86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5466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39B86-8CF5-7194-7925-D01CF7514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81446"/>
          </a:xfrm>
        </p:spPr>
        <p:txBody>
          <a:bodyPr/>
          <a:lstStyle/>
          <a:p>
            <a:r>
              <a:rPr lang="en-IN" dirty="0"/>
              <a:t>Data Collection and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ED8B6-AB41-835C-7A32-0E7210EF1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896" y="1568918"/>
            <a:ext cx="9327958" cy="5112303"/>
          </a:xfrm>
        </p:spPr>
        <p:txBody>
          <a:bodyPr/>
          <a:lstStyle/>
          <a:p>
            <a:r>
              <a:rPr lang="en-US" b="1" dirty="0"/>
              <a:t>Source</a:t>
            </a:r>
            <a:r>
              <a:rPr lang="en-US" dirty="0"/>
              <a:t>: Bills &amp; POD forms (Oct 2024), 225 entries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Tools: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r>
              <a:rPr lang="en-IN" b="1" dirty="0"/>
              <a:t>Cleaning</a:t>
            </a:r>
            <a:r>
              <a:rPr lang="en-IN" dirty="0"/>
              <a:t>: Normalization, deduplication, standardization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388E617-F619-75B0-4647-50C9570EC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2291" y="3615957"/>
            <a:ext cx="614142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Excel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Cleaning, PivotTables, COUNTIF, AVERAGEIF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Power BI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Dashboard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Python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OpenRouteService API for distance/time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826724-D369-E4DE-DE82-A580E0A8B65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6333" y="5815579"/>
            <a:ext cx="1028294" cy="8656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2FF4E25-5A72-00C9-1E40-27181B712D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2146" y="2016124"/>
            <a:ext cx="3055496" cy="11835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496DAEF-B856-511F-C2E8-EBE1BBD77E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606" y="5040061"/>
            <a:ext cx="8584655" cy="1465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3483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4B6A3-F3F3-2F04-F66D-B69F8468A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14069"/>
          </a:xfrm>
        </p:spPr>
        <p:txBody>
          <a:bodyPr/>
          <a:lstStyle/>
          <a:p>
            <a:r>
              <a:rPr lang="en-IN" dirty="0"/>
              <a:t>Key Findings – Revenue &amp; Returns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A82D6-2C49-974C-9460-DC22DCAF3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617044"/>
            <a:ext cx="9404723" cy="4631355"/>
          </a:xfrm>
        </p:spPr>
        <p:txBody>
          <a:bodyPr/>
          <a:lstStyle/>
          <a:p>
            <a:r>
              <a:rPr lang="en-IN" dirty="0"/>
              <a:t>T</a:t>
            </a:r>
            <a:r>
              <a:rPr lang="fr-FR" b="1" dirty="0"/>
              <a:t>op Revenue Regions</a:t>
            </a:r>
            <a:r>
              <a:rPr lang="fr-FR" dirty="0"/>
              <a:t>: Delhi (₹8,325), Bangalore, Lucknow</a:t>
            </a:r>
          </a:p>
          <a:p>
            <a:r>
              <a:rPr lang="en-IN" b="1" dirty="0"/>
              <a:t>Underperforming</a:t>
            </a:r>
            <a:r>
              <a:rPr lang="en-IN" dirty="0"/>
              <a:t>: Jhansi &amp; Hardoi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US" b="1" dirty="0"/>
              <a:t>Returns</a:t>
            </a:r>
            <a:r>
              <a:rPr lang="en-US" dirty="0"/>
              <a:t>: Only 2 returns (0.89%) → either real improvement or recording issue</a:t>
            </a:r>
          </a:p>
          <a:p>
            <a:r>
              <a:rPr lang="en-IN" dirty="0"/>
              <a:t>Return hotspots: Jhajjar &amp; Noida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C5BE09-C789-05CB-40DE-9F68126CC43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6333" y="5815579"/>
            <a:ext cx="1028294" cy="8656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846FCB-ED74-2BF8-95E7-5FBB3C3AAC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6775" y="2059118"/>
            <a:ext cx="4443802" cy="16559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91D78B-0CAB-497A-A380-B89B0AEDCB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423082"/>
            <a:ext cx="3157086" cy="1825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1289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E9D74-D596-E0EE-C8EA-93E591547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758798" cy="1116200"/>
          </a:xfrm>
        </p:spPr>
        <p:txBody>
          <a:bodyPr/>
          <a:lstStyle/>
          <a:p>
            <a:r>
              <a:rPr lang="en-US" dirty="0"/>
              <a:t>Key Findings – Service Type &amp; Weight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E1A3A-DE1D-8784-AA7A-35DF77B9B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2" y="1636296"/>
            <a:ext cx="9403742" cy="4612104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Standard Service</a:t>
            </a:r>
            <a:r>
              <a:rPr lang="en-US" dirty="0"/>
              <a:t>: 88% of parcels, 77% of revenue</a:t>
            </a:r>
          </a:p>
          <a:p>
            <a:r>
              <a:rPr lang="en-US" b="1" dirty="0"/>
              <a:t>Express Service</a:t>
            </a:r>
            <a:r>
              <a:rPr lang="en-US" dirty="0"/>
              <a:t>: 12% of parcels, 23% of revenue</a:t>
            </a:r>
          </a:p>
          <a:p>
            <a:pPr marL="0" indent="0">
              <a:buNone/>
            </a:pPr>
            <a:r>
              <a:rPr lang="en-US" dirty="0"/>
              <a:t>(for every 1% increase in volume, the revenue</a:t>
            </a:r>
          </a:p>
          <a:p>
            <a:pPr marL="0" indent="0">
              <a:buNone/>
            </a:pPr>
            <a:r>
              <a:rPr lang="en-US" dirty="0"/>
              <a:t> increases by about 2%)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IN" b="1" dirty="0"/>
              <a:t>&lt;5kg</a:t>
            </a:r>
            <a:r>
              <a:rPr lang="en-IN" dirty="0"/>
              <a:t>: 92% volume, 75% revenue</a:t>
            </a:r>
          </a:p>
          <a:p>
            <a:r>
              <a:rPr lang="en-IN" b="1" dirty="0"/>
              <a:t>&gt;5kg</a:t>
            </a:r>
            <a:r>
              <a:rPr lang="en-IN" dirty="0"/>
              <a:t>: 8% volume, 25% revenue (for every 1%</a:t>
            </a:r>
          </a:p>
          <a:p>
            <a:pPr marL="0" indent="0">
              <a:buNone/>
            </a:pPr>
            <a:r>
              <a:rPr lang="en-IN" dirty="0"/>
              <a:t>Increase in volume, the revenue increases by 3%)</a:t>
            </a:r>
          </a:p>
          <a:p>
            <a:r>
              <a:rPr lang="en-US" dirty="0"/>
              <a:t>Heavy parcels = higher profit, slightly longer</a:t>
            </a:r>
          </a:p>
          <a:p>
            <a:pPr marL="0" indent="0">
              <a:buNone/>
            </a:pPr>
            <a:r>
              <a:rPr lang="en-US" dirty="0"/>
              <a:t> delivery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A05D0F-3BD1-147A-2C34-F586C40CB72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6333" y="5815579"/>
            <a:ext cx="1028294" cy="8656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7F2DA8-F9AA-3491-F520-7A9FEC7720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4573" y="1568917"/>
            <a:ext cx="2999240" cy="18017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1C9FEA-1801-D972-0454-771C0B171B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4573" y="4013858"/>
            <a:ext cx="2999239" cy="1801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1124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9F129-54DD-980B-7614-F52D1DA05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374815" cy="1327956"/>
          </a:xfrm>
        </p:spPr>
        <p:txBody>
          <a:bodyPr/>
          <a:lstStyle/>
          <a:p>
            <a:r>
              <a:rPr lang="en-US" dirty="0"/>
              <a:t>Key Findings – Delivery Delays &amp; Patterns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5902B-8627-1935-39C2-D8394B3E5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2" y="2052918"/>
            <a:ext cx="9403742" cy="4195481"/>
          </a:xfrm>
        </p:spPr>
        <p:txBody>
          <a:bodyPr>
            <a:normAutofit/>
          </a:bodyPr>
          <a:lstStyle/>
          <a:p>
            <a:r>
              <a:rPr lang="en-IN" dirty="0"/>
              <a:t>34.53% of parcels delayed</a:t>
            </a:r>
          </a:p>
          <a:p>
            <a:r>
              <a:rPr lang="en-IN" dirty="0"/>
              <a:t>Worst: Surat (50%), Delhi (63%)</a:t>
            </a:r>
          </a:p>
          <a:p>
            <a:r>
              <a:rPr lang="en-US" dirty="0"/>
              <a:t>API travel time validated delay pattern</a:t>
            </a:r>
          </a:p>
          <a:p>
            <a:pPr marL="0" indent="0">
              <a:buNone/>
            </a:pPr>
            <a:r>
              <a:rPr lang="en-US" dirty="0"/>
              <a:t> (Surat = 14+ hours)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Peak Days: Monday (28%), Saturday (20%)</a:t>
            </a:r>
          </a:p>
          <a:p>
            <a:r>
              <a:rPr lang="en-IN" dirty="0"/>
              <a:t>Least Active: Sunday, Tuesday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FD7563-00D9-A3AB-86A5-B6C4F64ECF8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6333" y="5815579"/>
            <a:ext cx="1028294" cy="8656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BDB78A-A4E4-7A73-5B87-A535B96D5A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562" y="1237759"/>
            <a:ext cx="4515664" cy="17020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BCF27F-A438-0030-7C6E-689DF36A45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869" y="4769221"/>
            <a:ext cx="3323040" cy="1912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26EAC87-87E8-0A95-0BC7-7DADEC1BCE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633" y="3152420"/>
            <a:ext cx="2234164" cy="1427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7362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29673-9E33-0413-1C3A-0FE48E1EA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40815"/>
          </a:xfrm>
        </p:spPr>
        <p:txBody>
          <a:bodyPr/>
          <a:lstStyle/>
          <a:p>
            <a:r>
              <a:rPr lang="en-IN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C5362-26D8-C9B2-40C1-F584CBA95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2" y="1482292"/>
            <a:ext cx="9404722" cy="4766108"/>
          </a:xfrm>
        </p:spPr>
        <p:txBody>
          <a:bodyPr/>
          <a:lstStyle/>
          <a:p>
            <a:r>
              <a:rPr lang="en-US" dirty="0"/>
              <a:t>Promote express &amp; heavy parcel use</a:t>
            </a:r>
          </a:p>
          <a:p>
            <a:r>
              <a:rPr lang="it-IT" dirty="0"/>
              <a:t>Prioritize Surat &amp; Delhi in dispatch</a:t>
            </a:r>
          </a:p>
          <a:p>
            <a:r>
              <a:rPr lang="en-IN" dirty="0"/>
              <a:t>Digitize return logging</a:t>
            </a:r>
          </a:p>
          <a:p>
            <a:r>
              <a:rPr lang="en-US" dirty="0"/>
              <a:t>Realign staffing to peak days</a:t>
            </a:r>
          </a:p>
          <a:p>
            <a:r>
              <a:rPr lang="en-IN" dirty="0"/>
              <a:t>Customer feedback collection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455BE2-AF53-20F1-05B8-7617F0942D1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6333" y="5815579"/>
            <a:ext cx="1028294" cy="865642"/>
          </a:xfrm>
          <a:prstGeom prst="rect">
            <a:avLst/>
          </a:prstGeom>
        </p:spPr>
      </p:pic>
      <p:pic>
        <p:nvPicPr>
          <p:cNvPr id="6" name="Graphic 5" descr="Truck with solid fill">
            <a:extLst>
              <a:ext uri="{FF2B5EF4-FFF2-40B4-BE49-F238E27FC236}">
                <a16:creationId xmlns:a16="http://schemas.microsoft.com/office/drawing/2014/main" id="{21313717-4A48-E117-F802-9A16E086B3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35693" y="2326105"/>
            <a:ext cx="1310640" cy="1310640"/>
          </a:xfrm>
          <a:prstGeom prst="rect">
            <a:avLst/>
          </a:prstGeom>
        </p:spPr>
      </p:pic>
      <p:pic>
        <p:nvPicPr>
          <p:cNvPr id="10" name="Graphic 9" descr="Checklist with solid fill">
            <a:extLst>
              <a:ext uri="{FF2B5EF4-FFF2-40B4-BE49-F238E27FC236}">
                <a16:creationId xmlns:a16="http://schemas.microsoft.com/office/drawing/2014/main" id="{144335EF-38A0-0F9B-1A05-D63393E28D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02304" y="1034114"/>
            <a:ext cx="1047550" cy="1047550"/>
          </a:xfrm>
          <a:prstGeom prst="rect">
            <a:avLst/>
          </a:prstGeom>
        </p:spPr>
      </p:pic>
      <p:pic>
        <p:nvPicPr>
          <p:cNvPr id="12" name="Graphic 11" descr="Earth globe: Americas with solid fill">
            <a:extLst>
              <a:ext uri="{FF2B5EF4-FFF2-40B4-BE49-F238E27FC236}">
                <a16:creationId xmlns:a16="http://schemas.microsoft.com/office/drawing/2014/main" id="{2C995118-926C-D499-7268-5C47E43A14A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66240" y="3226539"/>
            <a:ext cx="1047550" cy="1047550"/>
          </a:xfrm>
          <a:prstGeom prst="rect">
            <a:avLst/>
          </a:prstGeom>
        </p:spPr>
      </p:pic>
      <p:pic>
        <p:nvPicPr>
          <p:cNvPr id="14" name="Graphic 13" descr="Email with solid fill">
            <a:extLst>
              <a:ext uri="{FF2B5EF4-FFF2-40B4-BE49-F238E27FC236}">
                <a16:creationId xmlns:a16="http://schemas.microsoft.com/office/drawing/2014/main" id="{74CDD427-B846-51AD-99F5-271FC5ACB7D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913956" y="4995655"/>
            <a:ext cx="954218" cy="954218"/>
          </a:xfrm>
          <a:prstGeom prst="rect">
            <a:avLst/>
          </a:prstGeom>
        </p:spPr>
      </p:pic>
      <p:pic>
        <p:nvPicPr>
          <p:cNvPr id="16" name="Graphic 15" descr="Laptop with solid fill">
            <a:extLst>
              <a:ext uri="{FF2B5EF4-FFF2-40B4-BE49-F238E27FC236}">
                <a16:creationId xmlns:a16="http://schemas.microsoft.com/office/drawing/2014/main" id="{C9FC4497-A594-BFBF-7BE6-90C563FD034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954754" y="1933875"/>
            <a:ext cx="1047550" cy="1047550"/>
          </a:xfrm>
          <a:prstGeom prst="rect">
            <a:avLst/>
          </a:prstGeom>
        </p:spPr>
      </p:pic>
      <p:pic>
        <p:nvPicPr>
          <p:cNvPr id="18" name="Graphic 17" descr="Lightbulb and gear with solid fill">
            <a:extLst>
              <a:ext uri="{FF2B5EF4-FFF2-40B4-BE49-F238E27FC236}">
                <a16:creationId xmlns:a16="http://schemas.microsoft.com/office/drawing/2014/main" id="{96E38514-9E80-489C-0B69-033DBB03B78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686494" y="3649579"/>
            <a:ext cx="1047550" cy="1047550"/>
          </a:xfrm>
          <a:prstGeom prst="rect">
            <a:avLst/>
          </a:prstGeom>
        </p:spPr>
      </p:pic>
      <p:pic>
        <p:nvPicPr>
          <p:cNvPr id="7" name="Graphic 6" descr="Marker with solid fill">
            <a:extLst>
              <a:ext uri="{FF2B5EF4-FFF2-40B4-BE49-F238E27FC236}">
                <a16:creationId xmlns:a16="http://schemas.microsoft.com/office/drawing/2014/main" id="{F49DE88D-95DD-AE50-2B2E-F68FB9CBAC7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684726" y="4328158"/>
            <a:ext cx="1047550" cy="104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2465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DC639-839A-A265-7BF6-E69E4DC57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52570"/>
          </a:xfrm>
        </p:spPr>
        <p:txBody>
          <a:bodyPr/>
          <a:lstStyle/>
          <a:p>
            <a:r>
              <a:rPr lang="en-IN" dirty="0"/>
              <a:t>Dashboard Snapshot &amp;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388D7-82F1-9EE5-1523-DA6403C0C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2" y="1607420"/>
            <a:ext cx="9404722" cy="4640980"/>
          </a:xfrm>
        </p:spPr>
        <p:txBody>
          <a:bodyPr/>
          <a:lstStyle/>
          <a:p>
            <a:r>
              <a:rPr lang="en-US" dirty="0"/>
              <a:t>Screenshot of </a:t>
            </a:r>
            <a:r>
              <a:rPr lang="en-US" b="1" dirty="0"/>
              <a:t>Power BI dashboard</a:t>
            </a:r>
          </a:p>
          <a:p>
            <a:r>
              <a:rPr lang="en-US" dirty="0"/>
              <a:t>Metrics: revenue, delay %, </a:t>
            </a:r>
          </a:p>
          <a:p>
            <a:pPr marL="0" indent="0">
              <a:buNone/>
            </a:pPr>
            <a:r>
              <a:rPr lang="en-US" dirty="0"/>
              <a:t>return rate, parcel weights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Recommendation Matrix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/>
              <a:t>High-impact+ High-feasibility → Top Priority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099538-7803-8D80-8DF8-DC89DA23566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6333" y="5815579"/>
            <a:ext cx="1028294" cy="8656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B2C0D2-0B69-2053-B0D1-ABA31C3EE8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96532"/>
            <a:ext cx="4199432" cy="24937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93F3BD-9878-CF55-D711-75B5E9A84C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130042"/>
            <a:ext cx="4218610" cy="2320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080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3A76C-A2C7-CDB9-8539-625592215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62196"/>
          </a:xfrm>
        </p:spPr>
        <p:txBody>
          <a:bodyPr/>
          <a:lstStyle/>
          <a:p>
            <a:r>
              <a:rPr lang="en-IN" dirty="0"/>
              <a:t>Limitations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F6F5E-2861-E4B2-091D-DEE4B30E7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2" y="1559294"/>
            <a:ext cx="9404722" cy="4689106"/>
          </a:xfrm>
        </p:spPr>
        <p:txBody>
          <a:bodyPr/>
          <a:lstStyle/>
          <a:p>
            <a:r>
              <a:rPr lang="en-IN" b="1" dirty="0"/>
              <a:t>Limitations</a:t>
            </a:r>
            <a:r>
              <a:rPr lang="en-IN" dirty="0"/>
              <a:t>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Future Work:</a:t>
            </a:r>
          </a:p>
          <a:p>
            <a:pPr marL="0" indent="0">
              <a:buNone/>
            </a:pPr>
            <a:endParaRPr lang="en-IN" b="1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B32EA30-49ED-B75E-B7CA-354DC1C95F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6669" y="2131276"/>
            <a:ext cx="267413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1-month dataset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Manual entry errors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1E6913-65C9-924E-F003-068ED14F8EAB}"/>
              </a:ext>
            </a:extLst>
          </p:cNvPr>
          <p:cNvSpPr txBox="1"/>
          <p:nvPr/>
        </p:nvSpPr>
        <p:spPr>
          <a:xfrm>
            <a:off x="1626669" y="3818725"/>
            <a:ext cx="479330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dirty="0"/>
              <a:t>Seasonal trends, Predictive ML models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IN" dirty="0"/>
              <a:t>Real-time route optimization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IN" dirty="0"/>
              <a:t>Customer sentiment via feedback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IN" dirty="0"/>
              <a:t>Automated dashboards </a:t>
            </a:r>
            <a:r>
              <a:rPr lang="en-IN"/>
              <a:t>with refresh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4C7F7D-DD18-9CCE-0E75-5FB2B71B992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6333" y="5815579"/>
            <a:ext cx="1028294" cy="865642"/>
          </a:xfrm>
          <a:prstGeom prst="rect">
            <a:avLst/>
          </a:prstGeom>
        </p:spPr>
      </p:pic>
      <p:pic>
        <p:nvPicPr>
          <p:cNvPr id="9" name="Graphic 8" descr="Map with pin with solid fill">
            <a:extLst>
              <a:ext uri="{FF2B5EF4-FFF2-40B4-BE49-F238E27FC236}">
                <a16:creationId xmlns:a16="http://schemas.microsoft.com/office/drawing/2014/main" id="{EC26E0B6-58F2-6F6D-96CC-606DD82E74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28549" y="1246606"/>
            <a:ext cx="1056813" cy="1056813"/>
          </a:xfrm>
          <a:prstGeom prst="rect">
            <a:avLst/>
          </a:prstGeom>
        </p:spPr>
      </p:pic>
      <p:pic>
        <p:nvPicPr>
          <p:cNvPr id="11" name="Graphic 10" descr="Document with solid fill">
            <a:extLst>
              <a:ext uri="{FF2B5EF4-FFF2-40B4-BE49-F238E27FC236}">
                <a16:creationId xmlns:a16="http://schemas.microsoft.com/office/drawing/2014/main" id="{BFA4B579-6E45-687A-A47F-0870F6A468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46880" y="1501461"/>
            <a:ext cx="1056813" cy="1056813"/>
          </a:xfrm>
          <a:prstGeom prst="rect">
            <a:avLst/>
          </a:prstGeom>
        </p:spPr>
      </p:pic>
      <p:pic>
        <p:nvPicPr>
          <p:cNvPr id="13" name="Graphic 12" descr="Daily calendar with solid fill">
            <a:extLst>
              <a:ext uri="{FF2B5EF4-FFF2-40B4-BE49-F238E27FC236}">
                <a16:creationId xmlns:a16="http://schemas.microsoft.com/office/drawing/2014/main" id="{E71BC6F8-334B-5983-7083-A2165FDEDC4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56956" y="2702654"/>
            <a:ext cx="1056813" cy="1056813"/>
          </a:xfrm>
          <a:prstGeom prst="rect">
            <a:avLst/>
          </a:prstGeom>
        </p:spPr>
      </p:pic>
      <p:pic>
        <p:nvPicPr>
          <p:cNvPr id="15" name="Graphic 14" descr="Bar graph with upward trend with solid fill">
            <a:extLst>
              <a:ext uri="{FF2B5EF4-FFF2-40B4-BE49-F238E27FC236}">
                <a16:creationId xmlns:a16="http://schemas.microsoft.com/office/drawing/2014/main" id="{FEB4D7D2-DB6F-9294-F1DF-7FA2264DD47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22662" y="4902827"/>
            <a:ext cx="1056813" cy="1056813"/>
          </a:xfrm>
          <a:prstGeom prst="rect">
            <a:avLst/>
          </a:prstGeom>
        </p:spPr>
      </p:pic>
      <p:pic>
        <p:nvPicPr>
          <p:cNvPr id="17" name="Graphic 16" descr="Call center with solid fill">
            <a:extLst>
              <a:ext uri="{FF2B5EF4-FFF2-40B4-BE49-F238E27FC236}">
                <a16:creationId xmlns:a16="http://schemas.microsoft.com/office/drawing/2014/main" id="{994EF6FF-B31A-4DA5-A1C1-3FF36F983EB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09437" y="3903847"/>
            <a:ext cx="1056813" cy="1056813"/>
          </a:xfrm>
          <a:prstGeom prst="rect">
            <a:avLst/>
          </a:prstGeom>
        </p:spPr>
      </p:pic>
      <p:pic>
        <p:nvPicPr>
          <p:cNvPr id="19" name="Graphic 18" descr="Dollar with solid fill">
            <a:extLst>
              <a:ext uri="{FF2B5EF4-FFF2-40B4-BE49-F238E27FC236}">
                <a16:creationId xmlns:a16="http://schemas.microsoft.com/office/drawing/2014/main" id="{9A1E2B10-4390-0C07-C0BC-688B2C9B145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151068" y="3259922"/>
            <a:ext cx="1056813" cy="1056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7415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331</TotalTime>
  <Words>426</Words>
  <Application>Microsoft Office PowerPoint</Application>
  <PresentationFormat>Widescreen</PresentationFormat>
  <Paragraphs>99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Century Gothic</vt:lpstr>
      <vt:lpstr>Courier New</vt:lpstr>
      <vt:lpstr>Wingdings 3</vt:lpstr>
      <vt:lpstr>Ion</vt:lpstr>
      <vt:lpstr>Enhancing Operational Efficiency and Revenue Analysis</vt:lpstr>
      <vt:lpstr>Executive Summary</vt:lpstr>
      <vt:lpstr>Problem Statement and Objectives</vt:lpstr>
      <vt:lpstr>Data Collection and Tools</vt:lpstr>
      <vt:lpstr>Key Findings – Revenue &amp; Returns</vt:lpstr>
      <vt:lpstr>Key Findings – Service Type &amp; Weight</vt:lpstr>
      <vt:lpstr>Key Findings – Delivery Delays &amp; Patterns</vt:lpstr>
      <vt:lpstr>Recommendations</vt:lpstr>
      <vt:lpstr>Dashboard Snapshot &amp; Matrix</vt:lpstr>
      <vt:lpstr>Limitations &amp;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Avishi Prasad</dc:creator>
  <cp:lastModifiedBy>Avishi Prasad</cp:lastModifiedBy>
  <cp:revision>1</cp:revision>
  <dcterms:created xsi:type="dcterms:W3CDTF">2025-06-21T03:47:24Z</dcterms:created>
  <dcterms:modified xsi:type="dcterms:W3CDTF">2025-08-23T05:02:31Z</dcterms:modified>
</cp:coreProperties>
</file>